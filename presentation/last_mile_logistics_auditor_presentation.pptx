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malitech-pzzepkval4rfh3phyyf2jh.streamlit.app/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Last Mile Logistics Auditor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Delivery promise accuracy and customer sentiment audit</a:t>
            </a:r>
            <a:br/>
            <a:br/>
            <a:r>
              <a:rPr/>
              <a:t>Irigenera Alliance | AIMS Rwanda | AmaliTech Rwanda Exam Task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Mile Logistics Auditor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Delivery promise accuracy and customer sentiment audit for Veridi Logistics.</a:t>
            </a:r>
          </a:p>
          <a:p>
            <a:pPr lvl="0" indent="0" marL="0">
              <a:buNone/>
            </a:pPr>
            <a:r>
              <a:rPr/>
              <a:t>Prepared by </a:t>
            </a:r>
            <a:r>
              <a:rPr b="1"/>
              <a:t>Irigenera Alliance</a:t>
            </a:r>
            <a:br/>
            <a:r>
              <a:rPr/>
              <a:t>Student at </a:t>
            </a:r>
            <a:r>
              <a:rPr b="1"/>
              <a:t>AIMS Rwanda</a:t>
            </a:r>
            <a:br/>
            <a:r>
              <a:rPr/>
              <a:t>Exam task for </a:t>
            </a:r>
            <a:r>
              <a:rPr b="1"/>
              <a:t>AmaliTech Rwanda</a:t>
            </a:r>
          </a:p>
          <a:p>
            <a:pPr lvl="0" indent="0" marL="0">
              <a:buNone/>
            </a:pPr>
            <a:r>
              <a:rPr/>
              <a:t>Dataset: Olist Brazilian E-Commerce Dataset.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96,476 delivered orders were analyzed.</a:t>
            </a:r>
          </a:p>
          <a:p>
            <a:pPr lvl="0"/>
            <a:r>
              <a:rPr/>
              <a:t>8.1% of delivered orders were late or super late.</a:t>
            </a:r>
          </a:p>
          <a:p>
            <a:pPr lvl="0"/>
            <a:r>
              <a:rPr/>
              <a:t>AL has the highest late rate at 23.9%, followed by MA at 19.7%.</a:t>
            </a:r>
          </a:p>
          <a:p>
            <a:pPr lvl="0"/>
            <a:r>
              <a:rPr/>
              <a:t>On-time orders average 4.29/5 in review score.</a:t>
            </a:r>
          </a:p>
          <a:p>
            <a:pPr lvl="0"/>
            <a:r>
              <a:rPr/>
              <a:t>Super-late orders average 1.79/5.</a:t>
            </a:r>
          </a:p>
          <a:p>
            <a:pPr lvl="0"/>
            <a:r>
              <a:rPr/>
              <a:t>Audio has the highest category-level late rate at 12.9%.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Model and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Orders joined to customers on </a:t>
            </a:r>
            <a:r>
              <a:rPr>
                <a:latin typeface="Courier"/>
              </a:rPr>
              <a:t>customer_id</a:t>
            </a:r>
            <a:r>
              <a:rPr/>
              <a:t>.</a:t>
            </a:r>
          </a:p>
          <a:p>
            <a:pPr lvl="0"/>
            <a:r>
              <a:rPr/>
              <a:t>Reviews aggregated to one row per order before joining on </a:t>
            </a:r>
            <a:r>
              <a:rPr>
                <a:latin typeface="Courier"/>
              </a:rPr>
              <a:t>order_id</a:t>
            </a:r>
            <a:r>
              <a:rPr/>
              <a:t>.</a:t>
            </a:r>
          </a:p>
          <a:p>
            <a:pPr lvl="0"/>
            <a:r>
              <a:rPr/>
              <a:t>Products, order items, and category translations used for category risk analysis.</a:t>
            </a:r>
          </a:p>
          <a:p>
            <a:pPr lvl="0"/>
            <a:r>
              <a:rPr/>
              <a:t>Date fields converted to datetime.</a:t>
            </a:r>
          </a:p>
          <a:p>
            <a:pPr lvl="0"/>
            <a:r>
              <a:rPr/>
              <a:t>Undelivered orders flagged separately and excluded from delivered-order delay metrics.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Delay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Days_Difference = order_estimated_delivery_date - order_delivered_customer_date</a:t>
            </a:r>
          </a:p>
          <a:p>
            <a:pPr lvl="0"/>
            <a:r>
              <a:rPr>
                <a:latin typeface="Courier"/>
              </a:rPr>
              <a:t>On Time</a:t>
            </a:r>
            <a:r>
              <a:rPr/>
              <a:t>: delivered on or before the estimated date.</a:t>
            </a:r>
          </a:p>
          <a:p>
            <a:pPr lvl="0"/>
            <a:r>
              <a:rPr>
                <a:latin typeface="Courier"/>
              </a:rPr>
              <a:t>Late</a:t>
            </a:r>
            <a:r>
              <a:rPr/>
              <a:t>: delivered 1 to 5 days after the estimated date.</a:t>
            </a:r>
          </a:p>
          <a:p>
            <a:pPr lvl="0"/>
            <a:r>
              <a:rPr>
                <a:latin typeface="Courier"/>
              </a:rPr>
              <a:t>Super Late</a:t>
            </a:r>
            <a:r>
              <a:rPr/>
              <a:t>: delivered more than 5 days after the estimated date.</a:t>
            </a:r>
          </a:p>
          <a:p>
            <a:pPr lvl="0"/>
            <a:r>
              <a:rPr>
                <a:latin typeface="Courier"/>
              </a:rPr>
              <a:t>Not Delivered</a:t>
            </a:r>
            <a:r>
              <a:rPr/>
              <a:t>: missing actual delivery date.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National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Delivered orders: 96,476</a:t>
            </a:r>
          </a:p>
          <a:p>
            <a:pPr lvl="0"/>
            <a:r>
              <a:rPr/>
              <a:t>On-time orders: 88,649</a:t>
            </a:r>
          </a:p>
          <a:p>
            <a:pPr lvl="0"/>
            <a:r>
              <a:rPr/>
              <a:t>Late orders: 3,615</a:t>
            </a:r>
          </a:p>
          <a:p>
            <a:pPr lvl="0"/>
            <a:r>
              <a:rPr/>
              <a:t>Super-late orders: 4,212</a:t>
            </a:r>
          </a:p>
          <a:p>
            <a:pPr lvl="0"/>
            <a:r>
              <a:rPr/>
              <a:t>National late or super-late rate: 8.1%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Regional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Worst states by late rate:</a:t>
            </a:r>
          </a:p>
          <a:p>
            <a:pPr lvl="0"/>
            <a:r>
              <a:rPr/>
              <a:t>AL: 23.9%</a:t>
            </a:r>
          </a:p>
          <a:p>
            <a:pPr lvl="0"/>
            <a:r>
              <a:rPr/>
              <a:t>MA: 19.7%</a:t>
            </a:r>
          </a:p>
          <a:p>
            <a:pPr lvl="0"/>
            <a:r>
              <a:rPr/>
              <a:t>PI: 16.0%</a:t>
            </a:r>
          </a:p>
          <a:p>
            <a:pPr lvl="0"/>
            <a:r>
              <a:rPr/>
              <a:t>CE: 15.3%</a:t>
            </a:r>
          </a:p>
          <a:p>
            <a:pPr lvl="0"/>
            <a:r>
              <a:rPr/>
              <a:t>SE: 15.2%</a:t>
            </a:r>
          </a:p>
          <a:p>
            <a:pPr lvl="0" indent="0" marL="0">
              <a:buNone/>
            </a:pPr>
            <a:r>
              <a:rPr/>
              <a:t>The issue is regionally concentrated, not evenly distributed nationwide.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Sentiment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 Time: 4.29/5</a:t>
            </a:r>
          </a:p>
          <a:p>
            <a:pPr lvl="0"/>
            <a:r>
              <a:rPr/>
              <a:t>Late: 3.46/5</a:t>
            </a:r>
          </a:p>
          <a:p>
            <a:pPr lvl="0"/>
            <a:r>
              <a:rPr/>
              <a:t>Super Late: 1.79/5</a:t>
            </a:r>
          </a:p>
          <a:p>
            <a:pPr lvl="0" indent="0" marL="0">
              <a:buNone/>
            </a:pPr>
            <a:r>
              <a:rPr/>
              <a:t>Late deliveries are associated with lower customer satisfaction, and super-late deliveries create the largest review-score damage.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Candidate’s Choice: Product Category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Highest-risk categories by late rate:</a:t>
            </a:r>
          </a:p>
          <a:p>
            <a:pPr lvl="0"/>
            <a:r>
              <a:rPr/>
              <a:t>Audio: 12.9%</a:t>
            </a:r>
          </a:p>
          <a:p>
            <a:pPr lvl="0"/>
            <a:r>
              <a:rPr/>
              <a:t>Fashion underwear beach: 12.8%</a:t>
            </a:r>
          </a:p>
          <a:p>
            <a:pPr lvl="0"/>
            <a:r>
              <a:rPr/>
              <a:t>Home comfort: 11.0%</a:t>
            </a:r>
          </a:p>
          <a:p>
            <a:pPr lvl="0" indent="0" marL="0">
              <a:buNone/>
            </a:pPr>
            <a:r>
              <a:rPr/>
              <a:t>This helps Veridi identify product and fulfillment risks beyond geography.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Dashboard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Dashboard link: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https://amalitech-pzzepkval4rfh3phyyf2jh.streamlit.app/</a:t>
            </a:r>
          </a:p>
          <a:p>
            <a:pPr lvl="0" indent="0" marL="0">
              <a:buNone/>
            </a:pPr>
            <a:r>
              <a:rPr/>
              <a:t>The dashboard includes:</a:t>
            </a:r>
          </a:p>
          <a:p>
            <a:pPr lvl="0"/>
            <a:r>
              <a:rPr/>
              <a:t>Executive KPI cards</a:t>
            </a:r>
          </a:p>
          <a:p>
            <a:pPr lvl="0"/>
            <a:r>
              <a:rPr/>
              <a:t>State drilldown</a:t>
            </a:r>
          </a:p>
          <a:p>
            <a:pPr lvl="0"/>
            <a:r>
              <a:rPr/>
              <a:t>Regional late-rate ranking</a:t>
            </a:r>
          </a:p>
          <a:p>
            <a:pPr lvl="0"/>
            <a:r>
              <a:rPr/>
              <a:t>Risk matrices</a:t>
            </a:r>
          </a:p>
          <a:p>
            <a:pPr lvl="0"/>
            <a:r>
              <a:rPr/>
              <a:t>Delay severity curve</a:t>
            </a:r>
          </a:p>
          <a:p>
            <a:pPr lvl="0"/>
            <a:r>
              <a:rPr/>
              <a:t>Category risk and impact analysis</a:t>
            </a:r>
          </a:p>
          <a:p>
            <a:pPr lvl="0"/>
            <a:r>
              <a:rPr/>
              <a:t>State and category leaderboards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Prioritize operational review in AL, MA, PI, CE, and SE.</a:t>
            </a:r>
          </a:p>
          <a:p>
            <a:pPr lvl="0"/>
            <a:r>
              <a:rPr/>
              <a:t>Recalibrate delivery estimates in high-risk states.</a:t>
            </a:r>
          </a:p>
          <a:p>
            <a:pPr lvl="0"/>
            <a:r>
              <a:rPr/>
              <a:t>Track super-late deliveries separately as a customer satisfaction risk.</a:t>
            </a:r>
          </a:p>
          <a:p>
            <a:pPr lvl="0"/>
            <a:r>
              <a:rPr/>
              <a:t>Investigate high-risk product categories such as audio.</a:t>
            </a:r>
          </a:p>
          <a:p>
            <a:pPr lvl="0"/>
            <a:r>
              <a:rPr/>
              <a:t>Monitor delivery promise accuracy as an ongoing KPI.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CEO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Delivery failures are not just a nationwide average problem. They are concentrated in specific regions and are strongly associated with lower review scores, especially when orders become super late.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Last Mile Logistics Auditor</dc:title>
  <dc:creator>Irigenera Alliance | AIMS Rwanda | AmaliTech Rwanda Exam Task</dc:creator>
  <cp:keywords/>
  <dcterms:created xsi:type="dcterms:W3CDTF">2026-06-16T21:01:19Z</dcterms:created>
  <dcterms:modified xsi:type="dcterms:W3CDTF">2026-06-16T21:01:19Z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Delivery promise accuracy and customer sentiment audit</vt:lpwstr>
  </property>
</Properties>
</file>